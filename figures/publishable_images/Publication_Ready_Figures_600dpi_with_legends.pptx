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03120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19232D"/>
                </a:solidFill>
                <a:latin typeface="Aptos"/>
              </a:rPr>
              <a:t>IndPenSim Penicillin Soft Sensor Images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0072B2"/>
                </a:solidFill>
                <a:latin typeface="Aptos"/>
              </a:rPr>
              <a:t>Publication-ready 600-DPI figure 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B1 -- Training-batch concentration trajectories</a:t>
            </a:r>
          </a:p>
        </p:txBody>
      </p:sp>
      <p:pic>
        <p:nvPicPr>
          <p:cNvPr id="3" name="Picture 2" descr="B1_training_batch_trajectories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1439" y="914400"/>
            <a:ext cx="6658640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Representative normal training-batch penicillin concentration trajectories.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B2 -- Baseline Random Forest: actual versus predicted</a:t>
            </a:r>
          </a:p>
        </p:txBody>
      </p:sp>
      <p:pic>
        <p:nvPicPr>
          <p:cNvPr id="3" name="Picture 2" descr="B2_baseline_actual_vs_predicted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975" y="914400"/>
            <a:ext cx="9839569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Random Forest baseline predictions on normal and fault test batches; the dashed diagonal denotes perfect agreement.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B3 -- Baseline Random Forest feature importance</a:t>
            </a:r>
          </a:p>
        </p:txBody>
      </p:sp>
      <p:pic>
        <p:nvPicPr>
          <p:cNvPr id="3" name="Picture 2" descr="B3_random_forest_feature_importance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626" y="914400"/>
            <a:ext cx="9432267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Random Forest impurity-based feature importance for the highest-ranked baseline predictors.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E1 -- Repeated complete-batch cross-validation</a:t>
            </a:r>
          </a:p>
        </p:txBody>
      </p:sp>
      <p:pic>
        <p:nvPicPr>
          <p:cNvPr id="3" name="Picture 2" descr="E1_repeated_batch_cv_distribution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478" y="914400"/>
            <a:ext cx="9364562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Distribution of pooled RMSE and R² across 25 repeated complete-batch Random Forest evaluations.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E2 -- Time and cumulative-feed ablation</a:t>
            </a:r>
          </a:p>
        </p:txBody>
      </p:sp>
      <p:pic>
        <p:nvPicPr>
          <p:cNvPr id="3" name="Picture 2" descr="E2_time_feed_ablation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657" y="914400"/>
            <a:ext cx="6752205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Normal and fault RMSE for all features and the time/cumulative-feed ablation variants.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E3 -- Error before, during and after the fault window</a:t>
            </a:r>
          </a:p>
        </p:txBody>
      </p:sp>
      <p:pic>
        <p:nvPicPr>
          <p:cNvPr id="3" name="Picture 2" descr="E3_fault_phase_mae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499" y="914400"/>
            <a:ext cx="6738521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Equal-batch mean MAE before, during and after the fault window with the saved bootstrap 95% interval and individual batch traces.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E4 -- Stronger model comparison</a:t>
            </a:r>
          </a:p>
        </p:txBody>
      </p:sp>
      <p:pic>
        <p:nvPicPr>
          <p:cNvPr id="3" name="Picture 2" descr="E4_model_comparison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55" y="914400"/>
            <a:ext cx="10811808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Fixed-test comparison of Dummy Median, Linear Regression, Random Forest and HistGradientBoosting.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E5a -- Early out-of-distribution warnings</a:t>
            </a:r>
          </a:p>
        </p:txBody>
      </p:sp>
      <p:pic>
        <p:nvPicPr>
          <p:cNvPr id="3" name="Picture 2" descr="E5a_early_ood_heatmap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457" y="914400"/>
            <a:ext cx="6292605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OOD score minus the horizon-specific training threshold at 12, 24, 48 and 72 h; positive values are threshold exceedances.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E5b -- Baseline RF: 24 h OOD score vs full-batch RMSE</a:t>
            </a:r>
          </a:p>
        </p:txBody>
      </p:sp>
      <p:pic>
        <p:nvPicPr>
          <p:cNvPr id="3" name="Picture 2" descr="E5b_ood_vs_batch_rmse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039" y="914400"/>
            <a:ext cx="6819441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Baseline Random Forest/OOD experiment: 24 h raw OOD score versus full-batch RMSE; dashed line is the training 95th-percentile threshold.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F1 -- Overall held-out RMSE</a:t>
            </a:r>
          </a:p>
        </p:txBody>
      </p:sp>
      <p:pic>
        <p:nvPicPr>
          <p:cNvPr id="3" name="Picture 2" descr="F1_overall_rmse_comparison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510" y="914400"/>
            <a:ext cx="7190499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Pooled held-out RMSE for normal-only and fault-inclusive HGB on normal and fault conditions.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F2 -- RMSE for each held-out fault batch</a:t>
            </a:r>
          </a:p>
        </p:txBody>
      </p:sp>
      <p:pic>
        <p:nvPicPr>
          <p:cNvPr id="3" name="Picture 2" descr="F2_fault_batch_rmse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5528" y="914400"/>
            <a:ext cx="7290462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Complete-batch RMSE for held-out fault batches 91–100, comparing normal-only and fault-inclusive HGB.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F3 -- Fault-batch actual versus predicted concentration</a:t>
            </a:r>
          </a:p>
        </p:txBody>
      </p:sp>
      <p:pic>
        <p:nvPicPr>
          <p:cNvPr id="3" name="Picture 2" descr="F3_fault_actual_vs_predicted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975" y="914400"/>
            <a:ext cx="9839569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Held-out fault-batch actual versus predicted penicillin concentration for the two HGB training strategies.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F4 -- Fault-risk warning score by phase</a:t>
            </a:r>
          </a:p>
        </p:txBody>
      </p:sp>
      <p:pic>
        <p:nvPicPr>
          <p:cNvPr id="3" name="Picture 2" descr="F4_fault_risk_by_phase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257" y="914400"/>
            <a:ext cx="6699004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Out-of-fold fault-risk warning score by process phase. Individual outlier markers are suppressed for visual clarity; box/median/whisker summaries are unchanged. The score is uncalibrated.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19232D"/>
                </a:solidFill>
                <a:latin typeface="Aptos"/>
              </a:rPr>
              <a:t>F5 -- Batch 100 held-out trajectory</a:t>
            </a:r>
          </a:p>
        </p:txBody>
      </p:sp>
      <p:pic>
        <p:nvPicPr>
          <p:cNvPr id="3" name="Picture 2" descr="F5_batch_100_held_out_trajectory_600d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335" y="914400"/>
            <a:ext cx="7608848" cy="4709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571500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373737"/>
                </a:solidFill>
                <a:latin typeface="Aptos"/>
              </a:rPr>
              <a:t>Figure legend. Held-out batch 100 prediction trajectory; dashed vertical line marks the recorded fault onset.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