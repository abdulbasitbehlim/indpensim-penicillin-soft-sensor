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32323"/>
                </a:solidFill>
                <a:latin typeface="Aptos"/>
              </a:rPr>
              <a:t>IndPenSim Penicillin Soft Sensor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32323"/>
                </a:solidFill>
                <a:latin typeface="Aptos"/>
              </a:rPr>
              <a:t>Publication-ready 600-DPI figure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B1 -- Training-batch concentration trajectories</a:t>
            </a:r>
          </a:p>
        </p:txBody>
      </p:sp>
      <p:pic>
        <p:nvPicPr>
          <p:cNvPr id="3" name="Picture 2" descr="B1_training_batch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881" y="914400"/>
            <a:ext cx="73697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B2 -- Baseline Random Forest: actual versus predicted</a:t>
            </a:r>
          </a:p>
        </p:txBody>
      </p:sp>
      <p:pic>
        <p:nvPicPr>
          <p:cNvPr id="3" name="Picture 2" descr="B2_baseline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61" y="914400"/>
            <a:ext cx="1089039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B3 -- Baseline Random Forest feature importance</a:t>
            </a:r>
          </a:p>
        </p:txBody>
      </p:sp>
      <p:pic>
        <p:nvPicPr>
          <p:cNvPr id="3" name="Picture 2" descr="B3_random_forest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61" y="914400"/>
            <a:ext cx="1043959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E1 -- Repeated complete-batch cross-validation</a:t>
            </a:r>
          </a:p>
        </p:txBody>
      </p:sp>
      <p:pic>
        <p:nvPicPr>
          <p:cNvPr id="3" name="Picture 2" descr="E1_repeated_batch_cv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429" y="914400"/>
            <a:ext cx="1036466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E2 -- Time and cumulative-feed ablation</a:t>
            </a:r>
          </a:p>
        </p:txBody>
      </p:sp>
      <p:pic>
        <p:nvPicPr>
          <p:cNvPr id="3" name="Picture 2" descr="E2_time_feed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102" y="914400"/>
            <a:ext cx="747331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E3 -- Error before, during and after the fault window</a:t>
            </a:r>
          </a:p>
        </p:txBody>
      </p:sp>
      <p:pic>
        <p:nvPicPr>
          <p:cNvPr id="3" name="Picture 2" descr="E3_fault_phase_m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675" y="914400"/>
            <a:ext cx="745816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E4 -- Stronger model comparison</a:t>
            </a:r>
          </a:p>
        </p:txBody>
      </p:sp>
      <p:pic>
        <p:nvPicPr>
          <p:cNvPr id="3" name="Picture 2" descr="E4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0885"/>
            <a:ext cx="11064240" cy="48191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E5a -- Early out-of-distribution warnings</a:t>
            </a:r>
          </a:p>
        </p:txBody>
      </p:sp>
      <p:pic>
        <p:nvPicPr>
          <p:cNvPr id="3" name="Picture 2" descr="E5a_early_ood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44" y="914400"/>
            <a:ext cx="696463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E5b -- Baseline RF: 24 h OOD score vs full-batch RMSE</a:t>
            </a:r>
          </a:p>
        </p:txBody>
      </p:sp>
      <p:pic>
        <p:nvPicPr>
          <p:cNvPr id="3" name="Picture 2" descr="E5b_ood_vs_batch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894" y="914400"/>
            <a:ext cx="754773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F1 -- Overall held-out RMSE</a:t>
            </a:r>
          </a:p>
        </p:txBody>
      </p:sp>
      <p:pic>
        <p:nvPicPr>
          <p:cNvPr id="3" name="Picture 2" descr="F1_overall_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551" y="914400"/>
            <a:ext cx="795841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F2 -- RMSE for each held-out fault batch</a:t>
            </a:r>
          </a:p>
        </p:txBody>
      </p:sp>
      <p:pic>
        <p:nvPicPr>
          <p:cNvPr id="3" name="Picture 2" descr="F2_fault_batch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232" y="914400"/>
            <a:ext cx="806905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F3 -- Fault-batch actual versus predicted concentration</a:t>
            </a:r>
          </a:p>
        </p:txBody>
      </p:sp>
      <p:pic>
        <p:nvPicPr>
          <p:cNvPr id="3" name="Picture 2" descr="F3_fault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61" y="914400"/>
            <a:ext cx="1089039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F4 -- Fault-risk warning score by phase</a:t>
            </a:r>
          </a:p>
        </p:txBody>
      </p:sp>
      <p:pic>
        <p:nvPicPr>
          <p:cNvPr id="3" name="Picture 2" descr="F4_fault_risk_by_ph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3543" y="914400"/>
            <a:ext cx="741443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232323"/>
                </a:solidFill>
                <a:latin typeface="Aptos"/>
              </a:rPr>
              <a:t>F5 -- Batch 100 held-out trajectory</a:t>
            </a:r>
          </a:p>
        </p:txBody>
      </p:sp>
      <p:pic>
        <p:nvPicPr>
          <p:cNvPr id="3" name="Picture 2" descr="F5_batch_100_held_out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038" y="914400"/>
            <a:ext cx="8421443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