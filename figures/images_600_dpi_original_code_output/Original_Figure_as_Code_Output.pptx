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B1 -- Training-batch concentration trajectories</a:t>
            </a:r>
          </a:p>
        </p:txBody>
      </p:sp>
      <p:pic>
        <p:nvPicPr>
          <p:cNvPr id="3" name="Picture 2" descr="B1_training_batch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10" y="914400"/>
            <a:ext cx="1023409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B2 -- Baseline Random Forest: actual versus predicted</a:t>
            </a:r>
          </a:p>
        </p:txBody>
      </p:sp>
      <p:pic>
        <p:nvPicPr>
          <p:cNvPr id="3" name="Picture 2" descr="B2_baseline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71923"/>
            <a:ext cx="11064240" cy="46970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B3 -- Baseline Random Forest feature importance</a:t>
            </a:r>
          </a:p>
        </p:txBody>
      </p:sp>
      <p:pic>
        <p:nvPicPr>
          <p:cNvPr id="3" name="Picture 2" descr="B3_random_fores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139" y="914400"/>
            <a:ext cx="74712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E1 -- Repeated complete-batch cross-validation</a:t>
            </a:r>
          </a:p>
        </p:txBody>
      </p:sp>
      <p:pic>
        <p:nvPicPr>
          <p:cNvPr id="3" name="Picture 2" descr="E1_repeated_batch_cv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9256"/>
            <a:ext cx="11064240" cy="42623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E2 -- Time and cumulative-feed ablation</a:t>
            </a:r>
          </a:p>
        </p:txBody>
      </p:sp>
      <p:pic>
        <p:nvPicPr>
          <p:cNvPr id="3" name="Picture 2" descr="E2_time_feed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86" y="914400"/>
            <a:ext cx="1058034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E3 -- Error before, during and after the fault window</a:t>
            </a:r>
          </a:p>
        </p:txBody>
      </p:sp>
      <p:pic>
        <p:nvPicPr>
          <p:cNvPr id="3" name="Picture 2" descr="E3_fault_phas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08" y="914400"/>
            <a:ext cx="808970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E4 -- Stronger model comparison</a:t>
            </a:r>
          </a:p>
        </p:txBody>
      </p:sp>
      <p:pic>
        <p:nvPicPr>
          <p:cNvPr id="3" name="Picture 2" descr="E4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931"/>
            <a:ext cx="11064240" cy="4389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E5a -- Early out-of-distribution warnings</a:t>
            </a:r>
          </a:p>
        </p:txBody>
      </p:sp>
      <p:pic>
        <p:nvPicPr>
          <p:cNvPr id="3" name="Picture 2" descr="E5a_early_oo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842" y="914400"/>
            <a:ext cx="715383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E5b -- Baseline RF: 24 h OOD score vs full-batch RMSE</a:t>
            </a:r>
          </a:p>
        </p:txBody>
      </p:sp>
      <p:pic>
        <p:nvPicPr>
          <p:cNvPr id="3" name="Picture 2" descr="E5b_ood_vs_batch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402" y="914400"/>
            <a:ext cx="808671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F1 -- Overall held-out RMSE</a:t>
            </a:r>
          </a:p>
        </p:txBody>
      </p:sp>
      <p:pic>
        <p:nvPicPr>
          <p:cNvPr id="3" name="Picture 2" descr="F1_overall_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914400"/>
            <a:ext cx="833932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F2 -- RMSE for each held-out fault batch</a:t>
            </a:r>
          </a:p>
        </p:txBody>
      </p:sp>
      <p:pic>
        <p:nvPicPr>
          <p:cNvPr id="3" name="Picture 2" descr="F2_fault_batch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959"/>
            <a:ext cx="11064240" cy="502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F3 -- Fault-batch actual versus predicted concentration</a:t>
            </a:r>
          </a:p>
        </p:txBody>
      </p:sp>
      <p:pic>
        <p:nvPicPr>
          <p:cNvPr id="3" name="Picture 2" descr="F3_fault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15390"/>
            <a:ext cx="1106424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F4 -- Fault-risk warning score by phase</a:t>
            </a:r>
          </a:p>
        </p:txBody>
      </p:sp>
      <p:pic>
        <p:nvPicPr>
          <p:cNvPr id="3" name="Picture 2" descr="F4_fault_risk_by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217" y="914400"/>
            <a:ext cx="938308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F5 -- Batch 100 held-out trajectory</a:t>
            </a:r>
          </a:p>
        </p:txBody>
      </p:sp>
      <p:pic>
        <p:nvPicPr>
          <p:cNvPr id="3" name="Picture 2" descr="F5_batch_100_held_ou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8646"/>
            <a:ext cx="11064240" cy="49235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